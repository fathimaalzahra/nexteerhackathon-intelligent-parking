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Economica-italic.fntdata"/><Relationship Id="rId6" Type="http://schemas.openxmlformats.org/officeDocument/2006/relationships/slide" Target="slides/slide1.xml"/><Relationship Id="rId18" Type="http://schemas.openxmlformats.org/officeDocument/2006/relationships/font" Target="fonts/Economi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76da809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76da809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076da809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076da809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7bde063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07bde063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076da809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076da809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076da8097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076da8097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07bde063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07bde063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07bde063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07bde063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07bde063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07bde063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7bde063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7bde063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07bde063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07bde063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10.jp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1810800" y="669550"/>
            <a:ext cx="5409900" cy="33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SMART PARK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         </a:t>
            </a:r>
            <a:r>
              <a:rPr lang="en-GB" sz="3600"/>
              <a:t>AUTOSLOT </a:t>
            </a:r>
            <a:r>
              <a:rPr lang="en-GB" sz="3600"/>
              <a:t>S</a:t>
            </a:r>
            <a:r>
              <a:rPr lang="en-GB" sz="3600"/>
              <a:t>EEKERS</a:t>
            </a:r>
            <a:endParaRPr sz="36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14275" y="3398105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Theme - 2 (Innovation Track)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357600" y="98925"/>
            <a:ext cx="83163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University of Visvesvaraya College of Engineering</a:t>
            </a:r>
            <a:endParaRPr b="1" sz="2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6573950" y="3515225"/>
            <a:ext cx="26175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Fathima (EEE) - Team Captain, HW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Vibha (EEE) - ML Integration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Vishal (Mech) - Website Development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Akanksh (ECE) - Hardware Integration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Nalin (ECE) - Database Integration</a:t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Problem Statement</a:t>
            </a:r>
            <a:endParaRPr sz="5000"/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Intelligent Parking Spot Finder</a:t>
            </a:r>
            <a:endParaRPr/>
          </a:p>
        </p:txBody>
      </p:sp>
      <p:sp>
        <p:nvSpPr>
          <p:cNvPr id="72" name="Google Shape;72;p14"/>
          <p:cNvSpPr txBox="1"/>
          <p:nvPr>
            <p:ph idx="2" type="body"/>
          </p:nvPr>
        </p:nvSpPr>
        <p:spPr>
          <a:xfrm>
            <a:off x="4939500" y="273925"/>
            <a:ext cx="3837000" cy="46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2200"/>
              <a:t>Vision: </a:t>
            </a:r>
            <a:r>
              <a:rPr lang="en-GB" sz="1600"/>
              <a:t>Create a seamless solution for pre-booking and reserving parking slots across multiple lots.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2000"/>
              <a:t>Problem:</a:t>
            </a:r>
            <a:r>
              <a:rPr lang="en-GB"/>
              <a:t> </a:t>
            </a:r>
            <a:r>
              <a:rPr lang="en-GB" sz="1600"/>
              <a:t>Addresses the critical lack of parking infrastructure in major cities, a key contributor to traffic congestion.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sz="2000"/>
              <a:t>Impact:</a:t>
            </a:r>
            <a:r>
              <a:rPr lang="en-GB"/>
              <a:t> </a:t>
            </a:r>
            <a:r>
              <a:rPr lang="en-GB" sz="1600"/>
              <a:t>Solves a universal challenge for automobile owners seeking efficient parking.</a:t>
            </a:r>
            <a:endParaRPr sz="160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150" y="4169800"/>
            <a:ext cx="479350" cy="6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0" y="121725"/>
            <a:ext cx="5250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Proposed Solution</a:t>
            </a:r>
            <a:endParaRPr sz="4500"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174750" y="1072825"/>
            <a:ext cx="4983900" cy="3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79614"/>
              <a:buChar char="●"/>
            </a:pPr>
            <a:r>
              <a:rPr lang="en-GB" sz="2135"/>
              <a:t>Effortless Parking Management:</a:t>
            </a:r>
            <a:r>
              <a:rPr lang="en-GB" sz="1700"/>
              <a:t> </a:t>
            </a:r>
            <a:r>
              <a:rPr lang="en-GB" sz="1700"/>
              <a:t>Locate, select, and reserve parking slots across multiple lots via a user-friendly web interface.</a:t>
            </a:r>
            <a:br>
              <a:rPr lang="en-GB" sz="1700"/>
            </a:br>
            <a:endParaRPr sz="1700"/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79614"/>
              <a:buChar char="●"/>
            </a:pPr>
            <a:r>
              <a:rPr lang="en-GB" sz="2135"/>
              <a:t>Seamless Payments:</a:t>
            </a:r>
            <a:r>
              <a:rPr lang="en-GB" sz="1700"/>
              <a:t> Integrated RazorPay for secure and quick transactions.</a:t>
            </a:r>
            <a:br>
              <a:rPr lang="en-GB" sz="1700"/>
            </a:br>
            <a:endParaRPr sz="1700"/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79614"/>
              <a:buChar char="●"/>
            </a:pPr>
            <a:r>
              <a:rPr lang="en-GB" sz="2135"/>
              <a:t>Automated Access:</a:t>
            </a:r>
            <a:r>
              <a:rPr lang="en-GB" sz="1700"/>
              <a:t> Unique ID generation for smooth, human-intervention-free entry and exit.</a:t>
            </a:r>
            <a:br>
              <a:rPr lang="en-GB" sz="1700"/>
            </a:br>
            <a:endParaRPr sz="1700"/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79614"/>
              <a:buChar char="●"/>
            </a:pPr>
            <a:r>
              <a:rPr lang="en-GB" sz="2135"/>
              <a:t>Core Innovation:</a:t>
            </a:r>
            <a:r>
              <a:rPr lang="en-GB" sz="1700"/>
              <a:t> Pre-booked Time Slots: Reserve specific parking durations with the flexibility to extend (penalties apply for overstay).</a:t>
            </a:r>
            <a:br>
              <a:rPr lang="en-GB" sz="1700"/>
            </a:br>
            <a:endParaRPr sz="1700"/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80952"/>
              <a:buChar char="●"/>
            </a:pPr>
            <a:r>
              <a:rPr lang="en-GB" sz="2100"/>
              <a:t>Cost Efficiency: </a:t>
            </a:r>
            <a:r>
              <a:rPr lang="en-GB" sz="1700"/>
              <a:t>Minimize labor costs through automated entry/exit validation.</a:t>
            </a:r>
            <a:endParaRPr sz="1700"/>
          </a:p>
        </p:txBody>
      </p:sp>
      <p:cxnSp>
        <p:nvCxnSpPr>
          <p:cNvPr id="80" name="Google Shape;80;p15"/>
          <p:cNvCxnSpPr/>
          <p:nvPr/>
        </p:nvCxnSpPr>
        <p:spPr>
          <a:xfrm>
            <a:off x="5364150" y="429900"/>
            <a:ext cx="0" cy="428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arking lot, aerial view (provided by Getty Images)"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5025" y="380425"/>
            <a:ext cx="2799498" cy="21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WhatsApp Image 2025-11-05 at 11.27.25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025" y="2769575"/>
            <a:ext cx="2838051" cy="180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243475" y="1788050"/>
            <a:ext cx="33843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900">
                <a:latin typeface="Economica"/>
                <a:ea typeface="Economica"/>
                <a:cs typeface="Economica"/>
                <a:sym typeface="Economica"/>
              </a:rPr>
              <a:t>BLOCK DIAGRAM</a:t>
            </a:r>
            <a:endParaRPr sz="3900"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89" name="Google Shape;89;p16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700" y="251100"/>
            <a:ext cx="6010899" cy="44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0" y="45650"/>
            <a:ext cx="5250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Technical Approach</a:t>
            </a:r>
            <a:endParaRPr sz="45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174750" y="913050"/>
            <a:ext cx="4983900" cy="40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2000"/>
              <a:t>Platform:</a:t>
            </a:r>
            <a:r>
              <a:rPr lang="en-GB" sz="1700"/>
              <a:t> </a:t>
            </a:r>
            <a:r>
              <a:rPr lang="en-GB" sz="1600"/>
              <a:t>Locally Hosted Web Application</a:t>
            </a:r>
            <a:endParaRPr sz="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900"/>
              <a:t>Backend: </a:t>
            </a:r>
            <a:r>
              <a:rPr lang="en-GB" sz="1600"/>
              <a:t>NodeJS Server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900"/>
              <a:t>Frontend:</a:t>
            </a:r>
            <a:r>
              <a:rPr lang="en-GB" sz="1600"/>
              <a:t> HTML &amp; CSS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900"/>
              <a:t>Database:</a:t>
            </a:r>
            <a:r>
              <a:rPr lang="en-GB" sz="1600"/>
              <a:t> Google Sheets (via Google App Script &amp; APIs)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900"/>
              <a:t>Dynamic Pricing ML:</a:t>
            </a:r>
            <a:r>
              <a:rPr lang="en-GB" sz="1700"/>
              <a:t> </a:t>
            </a:r>
            <a:r>
              <a:rPr lang="en-GB" sz="1600"/>
              <a:t>TinyML &amp; TensorFlow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900"/>
              <a:t>Location Services:</a:t>
            </a:r>
            <a:r>
              <a:rPr lang="en-GB" sz="1600"/>
              <a:t> Google Maps API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900"/>
              <a:t>Payment Gateway:</a:t>
            </a:r>
            <a:r>
              <a:rPr lang="en-GB" sz="1700"/>
              <a:t> </a:t>
            </a:r>
            <a:r>
              <a:rPr lang="en-GB" sz="1600"/>
              <a:t>RazorPay</a:t>
            </a:r>
            <a:endParaRPr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900"/>
              <a:t>Hardware:</a:t>
            </a:r>
            <a:r>
              <a:rPr lang="en-GB" sz="1700"/>
              <a:t> </a:t>
            </a:r>
            <a:r>
              <a:rPr lang="en-GB" sz="1600"/>
              <a:t>ESP32 for Ultrasonic Sensors &amp; Servo Motor (Gate Control)</a:t>
            </a:r>
            <a:endParaRPr sz="1600"/>
          </a:p>
        </p:txBody>
      </p:sp>
      <p:cxnSp>
        <p:nvCxnSpPr>
          <p:cNvPr id="96" name="Google Shape;96;p17"/>
          <p:cNvCxnSpPr/>
          <p:nvPr/>
        </p:nvCxnSpPr>
        <p:spPr>
          <a:xfrm>
            <a:off x="5364150" y="429900"/>
            <a:ext cx="0" cy="428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7" name="Google Shape;97;p17" title="PAR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0450" y="45650"/>
            <a:ext cx="3332625" cy="49609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6709200" y="4637250"/>
            <a:ext cx="243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Flow of the Solution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1700" y="730425"/>
            <a:ext cx="5250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 Implementation / Demo Overview </a:t>
            </a:r>
            <a:endParaRPr sz="4500"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174750" y="1514125"/>
            <a:ext cx="4983900" cy="36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94020"/>
              <a:buChar char="●"/>
            </a:pPr>
            <a:r>
              <a:rPr lang="en-GB" sz="1808"/>
              <a:t>Developed a smart parking management system enabling users to book slots, make secure payments, and track real-time availability through a responsive web interface built with HTML, CSS, and Node.js.</a:t>
            </a:r>
            <a:endParaRPr sz="1808"/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94020"/>
              <a:buChar char="●"/>
            </a:pPr>
            <a:r>
              <a:rPr lang="en-GB" sz="1808"/>
              <a:t>Integrated Razorpay payment gateway for seamless and secure online transactions during the booking process.</a:t>
            </a:r>
            <a:endParaRPr sz="1808"/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94020"/>
              <a:buChar char="●"/>
            </a:pPr>
            <a:r>
              <a:rPr lang="en-GB" sz="1808"/>
              <a:t>Designed and implemented the hardware system using ESP32, ultrasonic sensors, LCD display, and servo motors to detect vehicle presence, display slot status, and control gate movement.</a:t>
            </a:r>
            <a:endParaRPr sz="1808"/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SzPct val="94020"/>
              <a:buChar char="●"/>
            </a:pPr>
            <a:r>
              <a:rPr lang="en-GB" sz="1808"/>
              <a:t>Enabled dynamic fare calculation based on parking duration, providing an efficient, automated, and user-friendly parking experience.</a:t>
            </a:r>
            <a:endParaRPr sz="1808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105" name="Google Shape;105;p18"/>
          <p:cNvCxnSpPr/>
          <p:nvPr/>
        </p:nvCxnSpPr>
        <p:spPr>
          <a:xfrm>
            <a:off x="5364150" y="429900"/>
            <a:ext cx="0" cy="428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6" name="Google Shape;106;p18" title="WhatsApp Image 2025-11-05 at 11.46.02 AM.jpeg"/>
          <p:cNvPicPr preferRelativeResize="0"/>
          <p:nvPr/>
        </p:nvPicPr>
        <p:blipFill rotWithShape="1">
          <a:blip r:embed="rId3">
            <a:alphaModFix/>
          </a:blip>
          <a:srcRect b="0" l="13434" r="13434" t="0"/>
          <a:stretch/>
        </p:blipFill>
        <p:spPr>
          <a:xfrm>
            <a:off x="5782634" y="380425"/>
            <a:ext cx="2799500" cy="21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WhatsApp Image 2025-11-05 at 11.45.45 AM.jpeg"/>
          <p:cNvPicPr preferRelativeResize="0"/>
          <p:nvPr/>
        </p:nvPicPr>
        <p:blipFill rotWithShape="1">
          <a:blip r:embed="rId4">
            <a:alphaModFix/>
          </a:blip>
          <a:srcRect b="0" l="3497" r="3488" t="0"/>
          <a:stretch/>
        </p:blipFill>
        <p:spPr>
          <a:xfrm>
            <a:off x="5775025" y="2769575"/>
            <a:ext cx="2838051" cy="180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0" y="121725"/>
            <a:ext cx="5250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Challenges &amp; Learning</a:t>
            </a:r>
            <a:endParaRPr sz="450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174750" y="1072825"/>
            <a:ext cx="4983900" cy="3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/>
              <a:t>Challenges: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GB" sz="1400"/>
              <a:t>Integrating the website with the ESP32 hardware.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GB" sz="1400"/>
              <a:t>Integrating and running the ML model.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GB" sz="1400"/>
              <a:t>Debugging issues across hardware, front end, and back end.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/>
              <a:t>Learnings: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-GB" sz="1400"/>
              <a:t>Gained experience in hardware–software integration using APIs.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/>
              <a:t>Learned to create and manage API calls for real-time data exchange.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/>
              <a:t>Learned to debug hardware by checking with example codes.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114" name="Google Shape;114;p19"/>
          <p:cNvCxnSpPr/>
          <p:nvPr/>
        </p:nvCxnSpPr>
        <p:spPr>
          <a:xfrm>
            <a:off x="5364150" y="429900"/>
            <a:ext cx="0" cy="428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arking lot, aerial view (provided by Getty Images)"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5025" y="380425"/>
            <a:ext cx="2799498" cy="21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WhatsApp Image 2025-11-05 at 1.01.39 PM.jpeg"/>
          <p:cNvPicPr preferRelativeResize="0"/>
          <p:nvPr/>
        </p:nvPicPr>
        <p:blipFill rotWithShape="1">
          <a:blip r:embed="rId4">
            <a:alphaModFix/>
          </a:blip>
          <a:srcRect b="9303" l="0" r="0" t="9303"/>
          <a:stretch/>
        </p:blipFill>
        <p:spPr>
          <a:xfrm>
            <a:off x="5775025" y="2769575"/>
            <a:ext cx="2952176" cy="180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6975" y="380425"/>
            <a:ext cx="3051102" cy="215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0" y="45650"/>
            <a:ext cx="5250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Result &amp; Impact</a:t>
            </a:r>
            <a:endParaRPr sz="4500"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174750" y="913050"/>
            <a:ext cx="4983900" cy="40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Time Savings</a:t>
            </a:r>
            <a:r>
              <a:rPr lang="en-GB" sz="1600"/>
              <a:t>: Drastically reduce parking search time.</a:t>
            </a:r>
            <a:br>
              <a:rPr lang="en-GB" sz="1600"/>
            </a:b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Cost Efficiency: </a:t>
            </a:r>
            <a:r>
              <a:rPr lang="en-GB" sz="1600"/>
              <a:t>Automated entry/exit and inexpensive sensors slash operational costs.</a:t>
            </a:r>
            <a:br>
              <a:rPr lang="en-GB" sz="1600"/>
            </a:b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Real-time Accuracy: </a:t>
            </a:r>
            <a:r>
              <a:rPr lang="en-GB" sz="1600"/>
              <a:t>Highly accurate, live status of all parking slots.</a:t>
            </a:r>
            <a:br>
              <a:rPr lang="en-GB" sz="1600"/>
            </a:b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Scalability: </a:t>
            </a:r>
            <a:r>
              <a:rPr lang="en-GB" sz="1600"/>
              <a:t>Easily expand to multiple lots with minimal modifications.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24" name="Google Shape;124;p20"/>
          <p:cNvCxnSpPr/>
          <p:nvPr/>
        </p:nvCxnSpPr>
        <p:spPr>
          <a:xfrm>
            <a:off x="5364150" y="429900"/>
            <a:ext cx="0" cy="428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5" name="Google Shape;125;p20" title="WhatsApp Image 2025-11-05 at 10.04.28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715200"/>
            <a:ext cx="3613700" cy="17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title="WhatsApp Image 2025-11-05 at 2.02.25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350" y="2512000"/>
            <a:ext cx="3224300" cy="241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0" y="45650"/>
            <a:ext cx="5250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/>
              <a:t>Future Enhancements</a:t>
            </a:r>
            <a:endParaRPr sz="4500"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174750" y="913050"/>
            <a:ext cx="4983900" cy="40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2000"/>
              <a:t>Smarter Pricing:</a:t>
            </a:r>
            <a:r>
              <a:rPr lang="en-GB"/>
              <a:t> </a:t>
            </a:r>
            <a:r>
              <a:rPr lang="en-GB" sz="1600"/>
              <a:t>Data-driven dynamic pricing, optimizing for peak demand.</a:t>
            </a:r>
            <a:br>
              <a:rPr lang="en-GB" sz="1600"/>
            </a:b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2000"/>
              <a:t>Enhanced Security:</a:t>
            </a:r>
            <a:r>
              <a:rPr lang="en-GB"/>
              <a:t> </a:t>
            </a:r>
            <a:r>
              <a:rPr lang="en-GB" sz="1600"/>
              <a:t>Vehicle number integration to prevent slot mix-ups.</a:t>
            </a:r>
            <a:br>
              <a:rPr lang="en-GB" sz="1600"/>
            </a:b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2000"/>
              <a:t>Streamlined Access:</a:t>
            </a:r>
            <a:r>
              <a:rPr lang="en-GB"/>
              <a:t> </a:t>
            </a:r>
            <a:r>
              <a:rPr lang="en-GB" sz="1600"/>
              <a:t>QR code readers for faster entry and exit.</a:t>
            </a:r>
            <a:br>
              <a:rPr lang="en-GB" sz="1600"/>
            </a:b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2000"/>
              <a:t>Full Scalability:</a:t>
            </a:r>
            <a:r>
              <a:rPr lang="en-GB"/>
              <a:t> </a:t>
            </a:r>
            <a:r>
              <a:rPr lang="en-GB" sz="1600"/>
              <a:t>Web hosting, robust database, and expanded sensor network for multi-lot deployment</a:t>
            </a:r>
            <a:endParaRPr sz="1600"/>
          </a:p>
        </p:txBody>
      </p:sp>
      <p:cxnSp>
        <p:nvCxnSpPr>
          <p:cNvPr id="133" name="Google Shape;133;p21"/>
          <p:cNvCxnSpPr/>
          <p:nvPr/>
        </p:nvCxnSpPr>
        <p:spPr>
          <a:xfrm>
            <a:off x="5364150" y="429900"/>
            <a:ext cx="0" cy="4283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4" name="Google Shape;134;p21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650" y="2783550"/>
            <a:ext cx="3367335" cy="183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, security, server storage icon (provided by Getty Images)" id="135" name="Google Shape;1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0225" y="350175"/>
            <a:ext cx="2221573" cy="2221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Acknowledgement</a:t>
            </a:r>
            <a:endParaRPr/>
          </a:p>
        </p:txBody>
      </p:sp>
      <p:sp>
        <p:nvSpPr>
          <p:cNvPr id="141" name="Google Shape;141;p22"/>
          <p:cNvSpPr txBox="1"/>
          <p:nvPr>
            <p:ph idx="2" type="body"/>
          </p:nvPr>
        </p:nvSpPr>
        <p:spPr>
          <a:xfrm>
            <a:off x="4939500" y="273925"/>
            <a:ext cx="3837000" cy="4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Huge thanks to all the Jury members for their valuable feedback and suggestions!!</a:t>
            </a:r>
            <a:endParaRPr sz="19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Data sources used were for ML training like OpenStreetMap and a lot Google’s functions like Google API, Google Sheets and Google Appscripts played a vital role in realizing this solution.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150" y="4169800"/>
            <a:ext cx="479350" cy="6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175" y="2887138"/>
            <a:ext cx="15811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5375" y="366825"/>
            <a:ext cx="2076825" cy="19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>
            <p:ph type="ctrTitle"/>
          </p:nvPr>
        </p:nvSpPr>
        <p:spPr>
          <a:xfrm>
            <a:off x="372825" y="678775"/>
            <a:ext cx="8628300" cy="33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0"/>
              <a:t>THANK YOU !!</a:t>
            </a:r>
            <a:endParaRPr sz="12000"/>
          </a:p>
        </p:txBody>
      </p:sp>
      <p:sp>
        <p:nvSpPr>
          <p:cNvPr id="150" name="Google Shape;150;p23"/>
          <p:cNvSpPr txBox="1"/>
          <p:nvPr/>
        </p:nvSpPr>
        <p:spPr>
          <a:xfrm>
            <a:off x="205450" y="3431500"/>
            <a:ext cx="30891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Fathima (EEE) - </a:t>
            </a:r>
            <a:r>
              <a:rPr lang="en-GB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fathimazahra7049@gmail.com</a:t>
            </a:r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Vibha (EEE) - </a:t>
            </a:r>
            <a:r>
              <a:rPr lang="en-GB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vibha.hul@gmail.com</a:t>
            </a:r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Vishal (Mech) - </a:t>
            </a:r>
            <a:r>
              <a:rPr lang="en-GB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vishalgarande01@gmail.com</a:t>
            </a:r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Akanksh (ECE) - </a:t>
            </a:r>
            <a:r>
              <a:rPr lang="en-GB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kottariakanksh003@gmail.com</a:t>
            </a:r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Nalin (ECE) - </a:t>
            </a:r>
            <a:r>
              <a:rPr lang="en-GB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nalinjayvyas@gmail.com</a:t>
            </a:r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1" name="Google Shape;151;p23"/>
          <p:cNvCxnSpPr/>
          <p:nvPr/>
        </p:nvCxnSpPr>
        <p:spPr>
          <a:xfrm>
            <a:off x="372825" y="1247825"/>
            <a:ext cx="2914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3"/>
          <p:cNvCxnSpPr/>
          <p:nvPr/>
        </p:nvCxnSpPr>
        <p:spPr>
          <a:xfrm>
            <a:off x="5813300" y="3431500"/>
            <a:ext cx="2914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3"/>
          <p:cNvCxnSpPr/>
          <p:nvPr/>
        </p:nvCxnSpPr>
        <p:spPr>
          <a:xfrm>
            <a:off x="372825" y="1209776"/>
            <a:ext cx="0" cy="7077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3"/>
          <p:cNvCxnSpPr/>
          <p:nvPr/>
        </p:nvCxnSpPr>
        <p:spPr>
          <a:xfrm>
            <a:off x="8689384" y="2723800"/>
            <a:ext cx="0" cy="7077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